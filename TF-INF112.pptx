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0D41F4-20B7-4D76-B65D-24EDD7B952D7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B7BD7E-E96C-4645-A0C1-C055571CC7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1590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0DC1-3372-45E7-974B-2B50ECF6717F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D743D-C6B5-4B34-B875-D8E5C91777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9182998"/>
      </p:ext>
    </p:extLst>
  </p:cSld>
  <p:clrMapOvr>
    <a:masterClrMapping/>
  </p:clrMapOvr>
  <p:transition spd="slow">
    <p:wheel spokes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0DC1-3372-45E7-974B-2B50ECF6717F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D743D-C6B5-4B34-B875-D8E5C91777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9371585"/>
      </p:ext>
    </p:extLst>
  </p:cSld>
  <p:clrMapOvr>
    <a:masterClrMapping/>
  </p:clrMapOvr>
  <p:transition spd="slow">
    <p:wheel spokes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0DC1-3372-45E7-974B-2B50ECF6717F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D743D-C6B5-4B34-B875-D8E5C91777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4025008"/>
      </p:ext>
    </p:extLst>
  </p:cSld>
  <p:clrMapOvr>
    <a:masterClrMapping/>
  </p:clrMapOvr>
  <p:transition spd="slow">
    <p:wheel spokes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0DC1-3372-45E7-974B-2B50ECF6717F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D743D-C6B5-4B34-B875-D8E5C91777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3947283"/>
      </p:ext>
    </p:extLst>
  </p:cSld>
  <p:clrMapOvr>
    <a:masterClrMapping/>
  </p:clrMapOvr>
  <p:transition spd="slow">
    <p:wheel spokes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0DC1-3372-45E7-974B-2B50ECF6717F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D743D-C6B5-4B34-B875-D8E5C91777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8390228"/>
      </p:ext>
    </p:extLst>
  </p:cSld>
  <p:clrMapOvr>
    <a:masterClrMapping/>
  </p:clrMapOvr>
  <p:transition spd="slow">
    <p:wheel spokes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0DC1-3372-45E7-974B-2B50ECF6717F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D743D-C6B5-4B34-B875-D8E5C91777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9896914"/>
      </p:ext>
    </p:extLst>
  </p:cSld>
  <p:clrMapOvr>
    <a:masterClrMapping/>
  </p:clrMapOvr>
  <p:transition spd="slow">
    <p:wheel spokes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0DC1-3372-45E7-974B-2B50ECF6717F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D743D-C6B5-4B34-B875-D8E5C91777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2017547"/>
      </p:ext>
    </p:extLst>
  </p:cSld>
  <p:clrMapOvr>
    <a:masterClrMapping/>
  </p:clrMapOvr>
  <p:transition spd="slow">
    <p:wheel spokes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0DC1-3372-45E7-974B-2B50ECF6717F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D743D-C6B5-4B34-B875-D8E5C91777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3548990"/>
      </p:ext>
    </p:extLst>
  </p:cSld>
  <p:clrMapOvr>
    <a:masterClrMapping/>
  </p:clrMapOvr>
  <p:transition spd="slow">
    <p:wheel spokes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0DC1-3372-45E7-974B-2B50ECF6717F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D743D-C6B5-4B34-B875-D8E5C91777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0118128"/>
      </p:ext>
    </p:extLst>
  </p:cSld>
  <p:clrMapOvr>
    <a:masterClrMapping/>
  </p:clrMapOvr>
  <p:transition spd="slow">
    <p:wheel spokes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0DC1-3372-45E7-974B-2B50ECF6717F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D743D-C6B5-4B34-B875-D8E5C91777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3544612"/>
      </p:ext>
    </p:extLst>
  </p:cSld>
  <p:clrMapOvr>
    <a:masterClrMapping/>
  </p:clrMapOvr>
  <p:transition spd="slow">
    <p:wheel spokes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0DC1-3372-45E7-974B-2B50ECF6717F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D743D-C6B5-4B34-B875-D8E5C9177796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79033254"/>
      </p:ext>
    </p:extLst>
  </p:cSld>
  <p:clrMapOvr>
    <a:masterClrMapping/>
  </p:clrMapOvr>
  <p:transition spd="slow">
    <p:wheel spokes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0DC1-3372-45E7-974B-2B50ECF6717F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D743D-C6B5-4B34-B875-D8E5C91777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6017916"/>
      </p:ext>
    </p:extLst>
  </p:cSld>
  <p:clrMapOvr>
    <a:masterClrMapping/>
  </p:clrMapOvr>
  <p:transition spd="slow">
    <p:wheel spokes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0DC1-3372-45E7-974B-2B50ECF6717F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D743D-C6B5-4B34-B875-D8E5C9177796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8082083"/>
      </p:ext>
    </p:extLst>
  </p:cSld>
  <p:clrMapOvr>
    <a:masterClrMapping/>
  </p:clrMapOvr>
  <p:transition spd="slow">
    <p:wheel spokes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0DC1-3372-45E7-974B-2B50ECF6717F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D743D-C6B5-4B34-B875-D8E5C91777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6702936"/>
      </p:ext>
    </p:extLst>
  </p:cSld>
  <p:clrMapOvr>
    <a:masterClrMapping/>
  </p:clrMapOvr>
  <p:transition spd="slow">
    <p:wheel spokes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0DC1-3372-45E7-974B-2B50ECF6717F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D743D-C6B5-4B34-B875-D8E5C91777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9238928"/>
      </p:ext>
    </p:extLst>
  </p:cSld>
  <p:clrMapOvr>
    <a:masterClrMapping/>
  </p:clrMapOvr>
  <p:transition spd="slow">
    <p:wheel spokes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0DC1-3372-45E7-974B-2B50ECF6717F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D743D-C6B5-4B34-B875-D8E5C91777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5075973"/>
      </p:ext>
    </p:extLst>
  </p:cSld>
  <p:clrMapOvr>
    <a:masterClrMapping/>
  </p:clrMapOvr>
  <p:transition spd="slow">
    <p:wheel spokes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30DC1-3372-45E7-974B-2B50ECF6717F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D6D743D-C6B5-4B34-B875-D8E5C91777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22725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ransition spd="slow">
    <p:wheel spokes="1"/>
  </p:transition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FAA3DE-5851-4761-91CD-2F464C6C3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7641" y="1160865"/>
            <a:ext cx="7766936" cy="1646302"/>
          </a:xfrm>
        </p:spPr>
        <p:txBody>
          <a:bodyPr/>
          <a:lstStyle/>
          <a:p>
            <a:r>
              <a:rPr lang="pt-BR" dirty="0"/>
              <a:t>Trabalho Final - INF 112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B81D36B-12CA-4EC1-A6E3-1FD61BF6AE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6515" y="3502384"/>
            <a:ext cx="7766936" cy="1096899"/>
          </a:xfrm>
        </p:spPr>
        <p:txBody>
          <a:bodyPr>
            <a:noAutofit/>
          </a:bodyPr>
          <a:lstStyle/>
          <a:p>
            <a:pPr algn="ctr"/>
            <a:r>
              <a:rPr lang="pt-BR" sz="7200" dirty="0" err="1"/>
              <a:t>StudyTracker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4077842801"/>
      </p:ext>
    </p:extLst>
  </p:cSld>
  <p:clrMapOvr>
    <a:masterClrMapping/>
  </p:clrMapOvr>
  <p:transition spd="slow">
    <p:wheel spokes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352CA-EAC1-43FB-8B5E-DB66B3C41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Ideia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58A0B2-9406-44FA-B45C-D02853464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/>
              <a:t>O </a:t>
            </a:r>
            <a:r>
              <a:rPr lang="pt-BR" sz="2800" b="1" dirty="0" err="1"/>
              <a:t>Study</a:t>
            </a:r>
            <a:r>
              <a:rPr lang="pt-BR" sz="2800" b="1" dirty="0"/>
              <a:t> </a:t>
            </a:r>
            <a:r>
              <a:rPr lang="pt-BR" sz="2800" b="1" dirty="0" err="1"/>
              <a:t>Tracker</a:t>
            </a:r>
            <a:r>
              <a:rPr lang="pt-BR" sz="2800" dirty="0"/>
              <a:t> é uma aplicação desenvolvida com o objetivo de ajudar estudantes a monitorar, analisar e </a:t>
            </a:r>
            <a:r>
              <a:rPr lang="pt-BR" sz="2800" dirty="0" err="1"/>
              <a:t>gamificar</a:t>
            </a:r>
            <a:r>
              <a:rPr lang="pt-BR" sz="2800" dirty="0"/>
              <a:t> suas horas de estudo. A ferramenta busca criar um ambiente motivador e produtivo, incorporando elementos sociais e de recompensa para incentivar a consistência nos estudos.</a:t>
            </a:r>
          </a:p>
          <a:p>
            <a:r>
              <a:rPr lang="pt-BR" sz="2800" dirty="0"/>
              <a:t>Alinhado a ODS - Educação de qualidade.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54247118"/>
      </p:ext>
    </p:extLst>
  </p:cSld>
  <p:clrMapOvr>
    <a:masterClrMapping/>
  </p:clrMapOvr>
  <p:transition spd="slow">
    <p:wheel spokes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4B55DD-E698-479E-8DB4-EA732F61D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Funcionalidades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8FED14-A58D-4CBF-A21F-134A3C497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093843"/>
            <a:ext cx="9447327" cy="41545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4000" dirty="0"/>
              <a:t>1) </a:t>
            </a:r>
            <a:r>
              <a:rPr lang="pt-BR" sz="4000" b="1" dirty="0"/>
              <a:t>Monitoramento de Tempo:</a:t>
            </a:r>
            <a:endParaRPr lang="pt-BR" sz="4000" dirty="0"/>
          </a:p>
          <a:p>
            <a:pPr marL="0" indent="0">
              <a:buNone/>
            </a:pPr>
            <a:r>
              <a:rPr lang="pt-BR" sz="3200" dirty="0"/>
              <a:t>	- Cronômetro para sessões de estudo com funções de iniciar, pausar, continuar e finalizar.</a:t>
            </a:r>
          </a:p>
          <a:p>
            <a:pPr marL="0" indent="0">
              <a:buNone/>
            </a:pPr>
            <a:r>
              <a:rPr lang="pt-BR" sz="3200" dirty="0"/>
              <a:t>	- Adição de descrições para cada sessão.</a:t>
            </a:r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8273577"/>
      </p:ext>
    </p:extLst>
  </p:cSld>
  <p:clrMapOvr>
    <a:masterClrMapping/>
  </p:clrMapOvr>
  <p:transition spd="slow">
    <p:wheel spokes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58C1F62-FA66-4171-9349-82DE74B888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9" t="13978" r="6287" b="14382"/>
          <a:stretch/>
        </p:blipFill>
        <p:spPr>
          <a:xfrm>
            <a:off x="1378226" y="3962399"/>
            <a:ext cx="7527235" cy="2756452"/>
          </a:xfr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78F9E5AA-E3B2-45EE-B09E-37AC3D37C791}"/>
              </a:ext>
            </a:extLst>
          </p:cNvPr>
          <p:cNvSpPr/>
          <p:nvPr/>
        </p:nvSpPr>
        <p:spPr>
          <a:xfrm>
            <a:off x="664080" y="568043"/>
            <a:ext cx="9394319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4000" b="1" dirty="0"/>
              <a:t>2) Gamificação:</a:t>
            </a:r>
            <a:endParaRPr lang="pt-BR" sz="4000" dirty="0"/>
          </a:p>
          <a:p>
            <a:r>
              <a:rPr lang="pt-BR" sz="2800" dirty="0"/>
              <a:t>	- Sistema de pontos e moedas recebidos com base nas horas estudadas.</a:t>
            </a:r>
          </a:p>
          <a:p>
            <a:r>
              <a:rPr lang="pt-BR" sz="2800" dirty="0"/>
              <a:t>	- Loja virtual para trocar moedas por itens da loja (músicas para acompanhar os estudos.)</a:t>
            </a:r>
          </a:p>
          <a:p>
            <a:r>
              <a:rPr lang="pt-BR" sz="2800" dirty="0"/>
              <a:t>	- Status (</a:t>
            </a:r>
            <a:r>
              <a:rPr lang="pt-BR" sz="2800" dirty="0" err="1"/>
              <a:t>badges</a:t>
            </a:r>
            <a:r>
              <a:rPr lang="pt-BR" sz="2800" dirty="0"/>
              <a:t>) desbloqueados ao atingir determinado nível.</a:t>
            </a:r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137062617"/>
      </p:ext>
    </p:extLst>
  </p:cSld>
  <p:clrMapOvr>
    <a:masterClrMapping/>
  </p:clrMapOvr>
  <p:transition spd="slow">
    <p:wheel spokes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C2185C-5357-49CB-81EA-CABFE32BE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Arquitetura do Sistema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81D64F-3A3D-49A4-8998-D9F8E4111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46853"/>
            <a:ext cx="8596668" cy="389451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pt-BR" sz="4600" dirty="0"/>
              <a:t>- O projeto foi modelado utilizando a metodologia de </a:t>
            </a:r>
            <a:r>
              <a:rPr lang="pt-BR" sz="4600" b="1" dirty="0"/>
              <a:t>Cartões-CRC (Classe-Responsabilidade-Colaborador)</a:t>
            </a:r>
            <a:r>
              <a:rPr lang="pt-BR" sz="4600" dirty="0"/>
              <a:t> para garantir um design coeso e orientado a objetos, baseado no padrão de projeto Repositório.</a:t>
            </a:r>
          </a:p>
          <a:p>
            <a:pPr marL="0" indent="0">
              <a:buNone/>
            </a:pPr>
            <a:r>
              <a:rPr lang="pt-BR" sz="4600" dirty="0"/>
              <a:t>- A arquitetura foi dividida nos seguintes módulos:</a:t>
            </a:r>
          </a:p>
          <a:p>
            <a:r>
              <a:rPr lang="pt-BR" sz="3600" b="1" dirty="0"/>
              <a:t>Módulo de Usuário</a:t>
            </a:r>
          </a:p>
          <a:p>
            <a:r>
              <a:rPr lang="pt-BR" sz="3600" b="1" dirty="0"/>
              <a:t>Módulo de Gamificação e Recompensas</a:t>
            </a:r>
          </a:p>
          <a:p>
            <a:r>
              <a:rPr lang="pt-BR" sz="3600" b="1" dirty="0"/>
              <a:t>Módulo de Persistência</a:t>
            </a:r>
          </a:p>
          <a:p>
            <a:r>
              <a:rPr lang="pt-BR" sz="3600" b="1" dirty="0"/>
              <a:t>Módulo de Telas</a:t>
            </a:r>
          </a:p>
          <a:p>
            <a:r>
              <a:rPr lang="pt-BR" sz="3600" b="1" dirty="0"/>
              <a:t>Módulo de Orquestração</a:t>
            </a:r>
            <a:br>
              <a:rPr lang="pt-BR" sz="3800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46779150"/>
      </p:ext>
    </p:extLst>
  </p:cSld>
  <p:clrMapOvr>
    <a:masterClrMapping/>
  </p:clrMapOvr>
  <p:transition spd="slow">
    <p:wheel spokes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4C2EA6-FC87-4539-944B-E4037F9BF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58525"/>
            <a:ext cx="8596668" cy="1320800"/>
          </a:xfrm>
        </p:spPr>
        <p:txBody>
          <a:bodyPr/>
          <a:lstStyle/>
          <a:p>
            <a:r>
              <a:rPr lang="pt-BR" dirty="0"/>
              <a:t>Módulo de Usuário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4FC90E-CFF3-4DEF-B80A-4D8383BFD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18925"/>
            <a:ext cx="8596668" cy="46498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/>
              <a:t>- </a:t>
            </a:r>
            <a:r>
              <a:rPr lang="pt-BR" sz="2400" dirty="0" err="1"/>
              <a:t>Usuario</a:t>
            </a:r>
            <a:r>
              <a:rPr lang="pt-BR" sz="2400" dirty="0"/>
              <a:t>: Modela o usuário, suas credenciais e estado.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1B70D0E-6812-4B22-8B34-DA6BFD7D9FCB}"/>
              </a:ext>
            </a:extLst>
          </p:cNvPr>
          <p:cNvSpPr txBox="1"/>
          <p:nvPr/>
        </p:nvSpPr>
        <p:spPr>
          <a:xfrm>
            <a:off x="677334" y="2141884"/>
            <a:ext cx="914252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accent1"/>
                </a:solidFill>
              </a:rPr>
              <a:t>Módulo de Gamificação e Recompensas</a:t>
            </a:r>
          </a:p>
          <a:p>
            <a:r>
              <a:rPr lang="pt-BR" sz="2400" dirty="0"/>
              <a:t>- </a:t>
            </a:r>
            <a:r>
              <a:rPr lang="pt-BR" sz="2400" dirty="0" err="1"/>
              <a:t>SistemaGamificacao</a:t>
            </a:r>
            <a:r>
              <a:rPr lang="pt-BR" sz="2400" dirty="0"/>
              <a:t>: Controla a lógica de pontos, níveis e conquistas.</a:t>
            </a:r>
          </a:p>
          <a:p>
            <a:r>
              <a:rPr lang="pt-BR" sz="2400" dirty="0"/>
              <a:t>- Loja: Gerencia o catálogo de itens e as transações.</a:t>
            </a:r>
          </a:p>
          <a:p>
            <a:r>
              <a:rPr lang="pt-BR" sz="2400" dirty="0"/>
              <a:t>Item: Modela um item individual.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A7CEA3D-0010-40E1-9782-969EFDD5E370}"/>
              </a:ext>
            </a:extLst>
          </p:cNvPr>
          <p:cNvSpPr txBox="1"/>
          <p:nvPr/>
        </p:nvSpPr>
        <p:spPr>
          <a:xfrm flipH="1">
            <a:off x="677331" y="4528101"/>
            <a:ext cx="1097132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accent1"/>
                </a:solidFill>
              </a:rPr>
              <a:t>Módulo de Telas</a:t>
            </a:r>
          </a:p>
          <a:p>
            <a:pPr marL="342900" indent="-342900">
              <a:buFontTx/>
              <a:buChar char="-"/>
            </a:pPr>
            <a:r>
              <a:rPr lang="pt-BR" sz="2400" dirty="0" err="1"/>
              <a:t>TelaEstudo</a:t>
            </a:r>
            <a:r>
              <a:rPr lang="pt-BR" sz="2400" dirty="0"/>
              <a:t>: exibe dados do estudo (tempo, estado, disciplina).</a:t>
            </a:r>
          </a:p>
          <a:p>
            <a:pPr marL="342900" indent="-342900">
              <a:buFontTx/>
              <a:buChar char="-"/>
            </a:pPr>
            <a:r>
              <a:rPr lang="pt-BR" sz="2400" dirty="0" err="1"/>
              <a:t>TelaGamificação</a:t>
            </a:r>
            <a:r>
              <a:rPr lang="pt-BR" sz="2400" dirty="0"/>
              <a:t>: exibe dados da gamificação (</a:t>
            </a:r>
            <a:r>
              <a:rPr lang="pt-BR" sz="2400" dirty="0" err="1"/>
              <a:t>badge</a:t>
            </a:r>
            <a:r>
              <a:rPr lang="pt-BR" sz="2400" dirty="0"/>
              <a:t>, nível, moedas).</a:t>
            </a:r>
          </a:p>
          <a:p>
            <a:pPr marL="342900" indent="-342900">
              <a:buFontTx/>
              <a:buChar char="-"/>
            </a:pPr>
            <a:r>
              <a:rPr lang="pt-BR" sz="2400" dirty="0" err="1"/>
              <a:t>TelaInventario</a:t>
            </a:r>
            <a:r>
              <a:rPr lang="pt-BR" sz="2400" dirty="0"/>
              <a:t>: exibe o inventario.</a:t>
            </a:r>
          </a:p>
          <a:p>
            <a:pPr marL="342900" indent="-342900">
              <a:buFontTx/>
              <a:buChar char="-"/>
            </a:pPr>
            <a:r>
              <a:rPr lang="pt-BR" sz="2400" dirty="0" err="1"/>
              <a:t>Telaloja</a:t>
            </a:r>
            <a:r>
              <a:rPr lang="pt-BR" sz="2400" dirty="0"/>
              <a:t>: exibe a loja.</a:t>
            </a:r>
            <a:br>
              <a:rPr lang="pt-BR" sz="2400" dirty="0">
                <a:solidFill>
                  <a:schemeClr val="accent1"/>
                </a:solidFill>
              </a:rPr>
            </a:br>
            <a:endParaRPr lang="pt-BR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9402398"/>
      </p:ext>
    </p:extLst>
  </p:cSld>
  <p:clrMapOvr>
    <a:masterClrMapping/>
  </p:clrMapOvr>
  <p:transition spd="slow">
    <p:wheel spokes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B85391-62C1-48E7-9584-CA51FF93A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19" y="450574"/>
            <a:ext cx="8596668" cy="1320800"/>
          </a:xfrm>
        </p:spPr>
        <p:txBody>
          <a:bodyPr/>
          <a:lstStyle/>
          <a:p>
            <a:r>
              <a:rPr lang="pt-BR" dirty="0"/>
              <a:t>Módulo de Persistência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C436DB-BF31-46F7-A437-E5CAC3E9F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79443"/>
            <a:ext cx="8596668" cy="48619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/>
              <a:t>- </a:t>
            </a:r>
            <a:r>
              <a:rPr lang="pt-BR" sz="2400" dirty="0" err="1"/>
              <a:t>RepositorioEstudos</a:t>
            </a:r>
            <a:r>
              <a:rPr lang="pt-BR" sz="2400" dirty="0"/>
              <a:t>: Repositório para salvar e carregar sessões de estudo.</a:t>
            </a:r>
          </a:p>
          <a:p>
            <a:pPr marL="0" indent="0">
              <a:buNone/>
            </a:pPr>
            <a:r>
              <a:rPr lang="pt-BR" sz="2400" dirty="0"/>
              <a:t>- </a:t>
            </a:r>
            <a:r>
              <a:rPr lang="pt-BR" sz="2400" dirty="0" err="1"/>
              <a:t>RepositorioGamificacao</a:t>
            </a:r>
            <a:r>
              <a:rPr lang="pt-BR" sz="2400" dirty="0"/>
              <a:t>: Repositório para o progresso de gamificação.</a:t>
            </a:r>
          </a:p>
          <a:p>
            <a:pPr marL="0" indent="0">
              <a:buNone/>
            </a:pPr>
            <a:r>
              <a:rPr lang="pt-BR" sz="2400" dirty="0"/>
              <a:t>- </a:t>
            </a:r>
            <a:r>
              <a:rPr lang="pt-BR" sz="2400" dirty="0" err="1"/>
              <a:t>RepositorioInventario</a:t>
            </a:r>
            <a:r>
              <a:rPr lang="pt-BR" sz="2400" dirty="0"/>
              <a:t>: Repositório para os itens do usuário.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BA48B0F-16EF-4E98-860E-45A18FA11F52}"/>
              </a:ext>
            </a:extLst>
          </p:cNvPr>
          <p:cNvSpPr txBox="1"/>
          <p:nvPr/>
        </p:nvSpPr>
        <p:spPr>
          <a:xfrm>
            <a:off x="701319" y="4041913"/>
            <a:ext cx="76740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accent1"/>
                </a:solidFill>
              </a:rPr>
              <a:t>Módulo de Orquestração</a:t>
            </a:r>
          </a:p>
          <a:p>
            <a:r>
              <a:rPr lang="pt-BR" b="1" dirty="0"/>
              <a:t>- </a:t>
            </a:r>
            <a:r>
              <a:rPr lang="pt-BR" sz="2400" b="1" dirty="0" err="1"/>
              <a:t>Main</a:t>
            </a:r>
            <a:r>
              <a:rPr lang="pt-BR" sz="2400" b="1" dirty="0"/>
              <a:t>: A classe principal que coordena a interação entre todos os módulos.</a:t>
            </a:r>
          </a:p>
        </p:txBody>
      </p:sp>
    </p:spTree>
    <p:extLst>
      <p:ext uri="{BB962C8B-B14F-4D97-AF65-F5344CB8AC3E}">
        <p14:creationId xmlns:p14="http://schemas.microsoft.com/office/powerpoint/2010/main" val="854524267"/>
      </p:ext>
    </p:extLst>
  </p:cSld>
  <p:clrMapOvr>
    <a:masterClrMapping/>
  </p:clrMapOvr>
  <p:transition spd="slow">
    <p:wheel spokes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E215A0-58AA-4DFA-9670-3938AD752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Uso dos conceitos aprendidos na disciplina: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FB8B45-B626-4DC2-B35D-53B636069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110962"/>
          </a:xfrm>
        </p:spPr>
        <p:txBody>
          <a:bodyPr>
            <a:normAutofit/>
          </a:bodyPr>
          <a:lstStyle/>
          <a:p>
            <a:r>
              <a:rPr lang="pt-BR" sz="2400" dirty="0"/>
              <a:t>1) Herança: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F030501-F010-4CFF-BB98-A1C921978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892" y="2470546"/>
            <a:ext cx="6635238" cy="411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58731"/>
      </p:ext>
    </p:extLst>
  </p:cSld>
  <p:clrMapOvr>
    <a:masterClrMapping/>
  </p:clrMapOvr>
  <p:transition spd="slow">
    <p:wheel spokes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0D7E8C-0B79-462D-BAAB-581EF9A04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927653"/>
            <a:ext cx="8596668" cy="51137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/>
              <a:t>2) Encapsulamento: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F3973F0-BCF9-4C6D-8CA2-71598DD45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307" y="1666629"/>
            <a:ext cx="6786749" cy="437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320146"/>
      </p:ext>
    </p:extLst>
  </p:cSld>
  <p:clrMapOvr>
    <a:masterClrMapping/>
  </p:clrMapOvr>
  <p:transition spd="slow">
    <p:wheel spokes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5B465B-A90F-4E5B-9FC8-4B6689426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325" y="1033670"/>
            <a:ext cx="8596668" cy="51004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/>
              <a:t>3) Polimorfismo: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AC002D7-EC51-4E5F-8CDB-E32074A3A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913" y="1852629"/>
            <a:ext cx="8990290" cy="397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607295"/>
      </p:ext>
    </p:extLst>
  </p:cSld>
  <p:clrMapOvr>
    <a:masterClrMapping/>
  </p:clrMapOvr>
  <p:transition spd="slow">
    <p:wheel spokes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5534DA-A34C-4200-A265-F3771D4B2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861391"/>
            <a:ext cx="8596668" cy="51799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/>
              <a:t>4) Abstração: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D578A09-3251-4823-B963-77B4F79CF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956" y="1635552"/>
            <a:ext cx="6773471" cy="459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140013"/>
      </p:ext>
    </p:extLst>
  </p:cSld>
  <p:clrMapOvr>
    <a:masterClrMapping/>
  </p:clrMapOvr>
  <p:transition spd="slow">
    <p:wheel spokes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3999F7-11BD-4E1D-821B-13129A081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025847"/>
            <a:ext cx="8596668" cy="5015516"/>
          </a:xfrm>
        </p:spPr>
        <p:txBody>
          <a:bodyPr/>
          <a:lstStyle/>
          <a:p>
            <a:pPr marL="0" indent="0">
              <a:buNone/>
            </a:pPr>
            <a:r>
              <a:rPr lang="pt-BR" sz="2400" dirty="0"/>
              <a:t>5) Tratamento de erros: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55155EE-D36B-4008-A8F3-7A7325653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757" y="2292626"/>
            <a:ext cx="8093822" cy="310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407939"/>
      </p:ext>
    </p:extLst>
  </p:cSld>
  <p:clrMapOvr>
    <a:masterClrMapping/>
  </p:clrMapOvr>
  <p:transition spd="slow">
    <p:wheel spokes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274088-2E47-408A-86EF-84367ECFE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Funcionamento da loja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026B8B-4FCE-48D4-9A5E-33C43F7DD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loja possui um sistema de troca, onde o usuário troca suas moedas por itens (músicas).</a:t>
            </a:r>
          </a:p>
          <a:p>
            <a:r>
              <a:rPr lang="pt-BR" dirty="0"/>
              <a:t>Como obter moedas: a cada 10s o usuário ganha uma moeda e pode trocar por músicas na loja que possuem variados preços, as quais após serem compradas são armazenadas no inventário.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61ED7C6-C492-4E75-8ACD-0311A8BA4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891" y="3868859"/>
            <a:ext cx="3438474" cy="258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712169"/>
      </p:ext>
    </p:extLst>
  </p:cSld>
  <p:clrMapOvr>
    <a:masterClrMapping/>
  </p:clrMapOvr>
  <p:transition spd="slow">
    <p:wheel spokes="1"/>
  </p:transition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227</TotalTime>
  <Words>259</Words>
  <Application>Microsoft Office PowerPoint</Application>
  <PresentationFormat>Widescreen</PresentationFormat>
  <Paragraphs>47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Trebuchet MS</vt:lpstr>
      <vt:lpstr>Wingdings 3</vt:lpstr>
      <vt:lpstr>Facetado</vt:lpstr>
      <vt:lpstr>Trabalho Final - INF 112 </vt:lpstr>
      <vt:lpstr>Ideia</vt:lpstr>
      <vt:lpstr>Funcionalidades </vt:lpstr>
      <vt:lpstr>Apresentação do PowerPoint</vt:lpstr>
      <vt:lpstr>Arquitetura do Sistema </vt:lpstr>
      <vt:lpstr>Módulo de Usuário </vt:lpstr>
      <vt:lpstr>Módulo de Persistência </vt:lpstr>
      <vt:lpstr> Uso dos conceitos aprendidos na disciplina:</vt:lpstr>
      <vt:lpstr>Apresentação do PowerPoint</vt:lpstr>
      <vt:lpstr>Apresentação do PowerPoint</vt:lpstr>
      <vt:lpstr>Apresentação do PowerPoint</vt:lpstr>
      <vt:lpstr>Apresentação do PowerPoint</vt:lpstr>
      <vt:lpstr>Funcionamento da loja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Trabalho Final - INF 112</dc:title>
  <dc:creator>Gabriel Carneiro</dc:creator>
  <cp:lastModifiedBy>Gabriel Carneiro</cp:lastModifiedBy>
  <cp:revision>20</cp:revision>
  <dcterms:created xsi:type="dcterms:W3CDTF">2025-12-02T00:42:17Z</dcterms:created>
  <dcterms:modified xsi:type="dcterms:W3CDTF">2025-12-03T18:13:19Z</dcterms:modified>
</cp:coreProperties>
</file>